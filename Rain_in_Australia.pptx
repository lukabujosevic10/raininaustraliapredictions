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Broj kolona</c:v>
                </c:pt>
              </c:strCache>
            </c:strRef>
          </c:tx>
          <c:spPr>
            <a:solidFill>
              <a:srgbClr val="065a82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1" sz="1200" strike="noStrike" u="none">
                    <a:solidFill>
                      <a:srgbClr val="0b2545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Sirovi
podaci</c:v>
                </c:pt>
                <c:pt idx="1">
                  <c:v>+ vreme /
smer vetra</c:v>
                </c:pt>
                <c:pt idx="2">
                  <c:v>+ diff / lag /
geo / rosa</c:v>
                </c:pt>
                <c:pt idx="3">
                  <c:v>+ indikatori
nedostajanja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23</c:v>
                </c:pt>
                <c:pt idx="1">
                  <c:v>29</c:v>
                </c:pt>
                <c:pt idx="2">
                  <c:v>58</c:v>
                </c:pt>
                <c:pt idx="3">
                  <c:v>100</c:v>
                </c:pt>
              </c:numCache>
            </c:numRef>
          </c:val>
        </c:ser>
        <c:gapWidth val="150"/>
        <c:overlap val="0"/>
        <c:axId val="34803463"/>
        <c:axId val="47697178"/>
      </c:barChart>
      <c:catAx>
        <c:axId val="3480346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50" strike="noStrike" u="none">
                <a:solidFill>
                  <a:srgbClr val="5b7185"/>
                </a:solidFill>
                <a:uFillTx/>
                <a:latin typeface="Arial"/>
              </a:defRPr>
            </a:pPr>
          </a:p>
        </c:txPr>
        <c:crossAx val="47697178"/>
        <c:crosses val="autoZero"/>
        <c:auto val="1"/>
        <c:lblAlgn val="ctr"/>
        <c:lblOffset val="100"/>
        <c:noMultiLvlLbl val="0"/>
      </c:catAx>
      <c:valAx>
        <c:axId val="4769717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34803463"/>
        <c:crossBetween val="between"/>
      </c:valAx>
      <c:spPr>
        <a:noFill/>
        <a:ln w="12600">
          <a:solidFill>
            <a:srgbClr val="f4f8fb"/>
          </a:solidFill>
          <a:round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c7293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b="0" sz="950" strike="noStrike" u="none">
                    <a:solidFill>
                      <a:srgbClr val="0b2545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9"/>
                <c:pt idx="0">
                  <c:v>MaxTemp</c:v>
                </c:pt>
                <c:pt idx="1">
                  <c:v>Pressure3pm</c:v>
                </c:pt>
                <c:pt idx="2">
                  <c:v>Pressure9am</c:v>
                </c:pt>
                <c:pt idx="3">
                  <c:v>Temp9am</c:v>
                </c:pt>
                <c:pt idx="4">
                  <c:v>Temp3pm</c:v>
                </c:pt>
                <c:pt idx="5">
                  <c:v>MinTemp</c:v>
                </c:pt>
                <c:pt idx="6">
                  <c:v>Humidity3pm</c:v>
                </c:pt>
                <c:pt idx="7">
                  <c:v>Humidity9am</c:v>
                </c:pt>
                <c:pt idx="8">
                  <c:v>Sunshine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9"/>
                <c:pt idx="0">
                  <c:v>0.9831</c:v>
                </c:pt>
                <c:pt idx="1">
                  <c:v>0.9709</c:v>
                </c:pt>
                <c:pt idx="2">
                  <c:v>0.9707</c:v>
                </c:pt>
                <c:pt idx="3">
                  <c:v>0.9532</c:v>
                </c:pt>
                <c:pt idx="4">
                  <c:v>0.9472</c:v>
                </c:pt>
                <c:pt idx="5">
                  <c:v>0.9307</c:v>
                </c:pt>
                <c:pt idx="6">
                  <c:v>0.8552</c:v>
                </c:pt>
                <c:pt idx="7">
                  <c:v>0.8211</c:v>
                </c:pt>
                <c:pt idx="8">
                  <c:v>0.797</c:v>
                </c:pt>
              </c:numCache>
            </c:numRef>
          </c:val>
        </c:ser>
        <c:gapWidth val="150"/>
        <c:overlap val="0"/>
        <c:axId val="88852912"/>
        <c:axId val="98967255"/>
      </c:barChart>
      <c:catAx>
        <c:axId val="888529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50" strike="noStrike" u="none">
                <a:solidFill>
                  <a:srgbClr val="12263a"/>
                </a:solidFill>
                <a:uFillTx/>
                <a:latin typeface="Arial"/>
              </a:defRPr>
            </a:pPr>
          </a:p>
        </c:txPr>
        <c:crossAx val="98967255"/>
        <c:crosses val="autoZero"/>
        <c:auto val="1"/>
        <c:lblAlgn val="ctr"/>
        <c:lblOffset val="100"/>
        <c:noMultiLvlLbl val="0"/>
      </c:catAx>
      <c:valAx>
        <c:axId val="98967255"/>
        <c:scaling>
          <c:orientation val="minMax"/>
          <c:max val="1.05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8852912"/>
        <c:crossBetween val="between"/>
      </c:valAx>
      <c:spPr>
        <a:noFill/>
        <a:ln w="12600">
          <a:solidFill>
            <a:srgbClr val="ffffff"/>
          </a:solidFill>
          <a:round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2612788-5140-43DD-995E-B636812BDB24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AEA2CE-9A2C-4BF7-9670-C14E7020ACA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E07D5B-8BAF-4F35-BF5E-0E7C9FD7E94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43B2B2-3521-4371-9BF5-4F14E92220C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2565A4-A3F4-4A34-92C9-D5BC64DB293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274B2B-B384-4931-8B08-26AB5F02FCB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568B1F-6AC7-4635-AC2D-F3F2732FE6F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7840DA-8A87-414D-B0F4-0171BB1FF14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8C4294-7ED2-4DBB-AD6B-A0ED5553043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E49C5A-10F3-4283-93FE-C36AA78B2C5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7A5379-FB6A-456F-BC13-DEF7E627088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C91A58-50EB-42A1-B1C8-6ABEDE1B35C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47763C-6F9A-49FE-AAA9-A5DCA913C17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422634-EE5F-4725-8410-60D49668FCD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2F9AA1-65FD-41F6-A9C9-9C4B0430E7C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59D21E-AD1C-46C6-9791-55D040B43C2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BBA41D-556F-4CEF-BB73-3592F79D468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04C25B-7166-4717-8258-74CF71EFFD1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0820FF-9EE8-4EC0-A99A-FCE4F10A56C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3462D7-5804-49E1-8157-3BE847CD660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966960" y="914400"/>
            <a:ext cx="502560" cy="50256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607040" y="1554480"/>
            <a:ext cx="319680" cy="31968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9509760" y="1828800"/>
            <a:ext cx="255600" cy="25560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0881360" y="457200"/>
            <a:ext cx="200880" cy="20088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9784080" y="2743200"/>
            <a:ext cx="365400" cy="36540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1155680" y="2377440"/>
            <a:ext cx="273960" cy="27396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22960" y="14173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9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SEMINARSKI RAD  ·  UVOD U NAUKU O PODACIMA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22960" y="1828800"/>
            <a:ext cx="9600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Rain in Australia</a:t>
            </a:r>
            <a:endParaRPr b="0" lang="en-GB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822960" y="276156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Predikcija padavina za naredni dan pomoću mašinskog učenja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822960" y="3401280"/>
            <a:ext cx="2011680" cy="360"/>
          </a:xfrm>
          <a:prstGeom prst="line">
            <a:avLst/>
          </a:prstGeom>
          <a:ln w="31750">
            <a:solidFill>
              <a:srgbClr val="5fd1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822960" y="363924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Binarna klasifikacija  ·  145.460 opservacija  ·  49 meteoroloških stanica  ·  2007–2017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822960" y="4297680"/>
            <a:ext cx="7954920" cy="1599840"/>
          </a:xfrm>
          <a:prstGeom prst="roundRect">
            <a:avLst>
              <a:gd name="adj" fmla="val 4571"/>
            </a:avLst>
          </a:prstGeom>
          <a:solidFill>
            <a:srgbClr val="132c4f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1051560" y="444384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PRIRODNO-MATEMATIČKI FAKULTET, UNIVERZITET U KRAGUJEVCU</a:t>
            </a:r>
            <a:endParaRPr b="0" lang="en-GB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1051560" y="4736520"/>
            <a:ext cx="749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Predmetni profesor: dr Branko Arsić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051560" y="5074920"/>
            <a:ext cx="749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Tim: Marta Tripković  ·  Matija Četrović  ·  Luka Bujošević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051560" y="5468040"/>
            <a:ext cx="749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Odbrana seminarskog rada</a:t>
            </a:r>
            <a:endParaRPr b="0" lang="en-GB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822960" y="626364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Skup podataka: Kaggle — Rain in Australia (izvor: Australijski meteorološki zavod, BOM)</a:t>
            </a:r>
            <a:endParaRPr b="0" lang="en-GB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PREGLED IZLAGANJA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Sadržaj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548640" y="1600200"/>
            <a:ext cx="507456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76320" dir="5400000" dist="25560" kx="0" ky="0" rotWithShape="0" sx="100000" sy="100000">
              <a:srgbClr val="1b2b3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777240" y="176472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8fc1d9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1554480" y="1600200"/>
            <a:ext cx="3885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Skup podataka i cilj rada</a:t>
            </a:r>
            <a:endParaRPr b="0" lang="en-GB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6080760" y="1600200"/>
            <a:ext cx="507456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76320" dir="5400000" dist="25560" kx="0" ky="0" rotWithShape="0" sx="100000" sy="100000">
              <a:srgbClr val="1b2b3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6309360" y="176472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8fc1d9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7086600" y="1600200"/>
            <a:ext cx="3885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Metodološki pristup — pregled celokupnog toka</a:t>
            </a:r>
            <a:endParaRPr b="0" lang="en-GB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548640" y="2651760"/>
            <a:ext cx="507456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76320" dir="5400000" dist="25560" kx="0" ky="0" rotWithShape="0" sx="100000" sy="100000">
              <a:srgbClr val="1b2b3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777240" y="281628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8fc1d9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1554480" y="2651760"/>
            <a:ext cx="3885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Čišćenje podataka i detekcija anomalija</a:t>
            </a:r>
            <a:endParaRPr b="0" lang="en-GB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6080760" y="2651760"/>
            <a:ext cx="507456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76320" dir="5400000" dist="25560" kx="0" ky="0" rotWithShape="0" sx="100000" sy="100000">
              <a:srgbClr val="1b2b3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6309360" y="281628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8fc1d9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7086600" y="2651760"/>
            <a:ext cx="3885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Eksplorativna analiza — korelacije i značaj atributa</a:t>
            </a:r>
            <a:endParaRPr b="0" lang="en-GB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548640" y="3703320"/>
            <a:ext cx="507456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76320" dir="5400000" dist="25560" kx="0" ky="0" rotWithShape="0" sx="100000" sy="100000">
              <a:srgbClr val="1b2b3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777240" y="386784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8fc1d9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1554480" y="3703320"/>
            <a:ext cx="3885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Inženjering obeležja</a:t>
            </a:r>
            <a:endParaRPr b="0" lang="en-GB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7"/>
          <p:cNvSpPr/>
          <p:nvPr/>
        </p:nvSpPr>
        <p:spPr>
          <a:xfrm>
            <a:off x="6080760" y="3703320"/>
            <a:ext cx="507456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76320" dir="5400000" dist="25560" kx="0" ky="0" rotWithShape="0" sx="100000" sy="100000">
              <a:srgbClr val="1b2b3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6309360" y="386784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8fc1d9"/>
                </a:solidFill>
                <a:effectLst/>
                <a:uFillTx/>
                <a:latin typeface="Cambria"/>
                <a:ea typeface="Cambria"/>
              </a:rPr>
              <a:t>06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7086600" y="3703320"/>
            <a:ext cx="3885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Imputacija nedostajućih vrednosti</a:t>
            </a:r>
            <a:endParaRPr b="0" lang="en-GB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0"/>
          <p:cNvSpPr/>
          <p:nvPr/>
        </p:nvSpPr>
        <p:spPr>
          <a:xfrm>
            <a:off x="548640" y="4754880"/>
            <a:ext cx="507456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76320" dir="5400000" dist="25560" kx="0" ky="0" rotWithShape="0" sx="100000" sy="100000">
              <a:srgbClr val="1b2b3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777240" y="491940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8fc1d9"/>
                </a:solidFill>
                <a:effectLst/>
                <a:uFillTx/>
                <a:latin typeface="Cambria"/>
                <a:ea typeface="Cambria"/>
              </a:rPr>
              <a:t>07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2"/>
          <p:cNvSpPr/>
          <p:nvPr/>
        </p:nvSpPr>
        <p:spPr>
          <a:xfrm>
            <a:off x="1554480" y="4754880"/>
            <a:ext cx="3885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Modelovanje i rezultati</a:t>
            </a:r>
            <a:endParaRPr b="0" lang="en-GB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3"/>
          <p:cNvSpPr/>
          <p:nvPr/>
        </p:nvSpPr>
        <p:spPr>
          <a:xfrm>
            <a:off x="6080760" y="4754880"/>
            <a:ext cx="507456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76320" dir="5400000" dist="25560" kx="0" ky="0" rotWithShape="0" sx="100000" sy="100000">
              <a:srgbClr val="1b2b3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6309360" y="491940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8fc1d9"/>
                </a:solidFill>
                <a:effectLst/>
                <a:uFillTx/>
                <a:latin typeface="Cambria"/>
                <a:ea typeface="Cambria"/>
              </a:rPr>
              <a:t>08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7086600" y="4754880"/>
            <a:ext cx="3885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Produkcija modela i zaključak</a:t>
            </a:r>
            <a:endParaRPr b="0" lang="en-GB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6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01 · UVOD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Skup podataka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548640" y="1417320"/>
            <a:ext cx="6491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Rain in Australia (Kaggle) — preuzet i objedinjen sa zvaničnog sajta Australijskog meteorološkog zavoda (BOM), datoteka weatherAUS.csv.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548640" y="2331720"/>
            <a:ext cx="3017160" cy="100548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731520" y="2404800"/>
            <a:ext cx="265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145.460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731520" y="289872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redova (opservacija)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3840480" y="2331720"/>
            <a:ext cx="3017160" cy="100548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4023360" y="2404800"/>
            <a:ext cx="265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23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4023360" y="289872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kolone (16 numeričkih, 7 kategorijskih)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548640" y="3566160"/>
            <a:ext cx="3017160" cy="100548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731520" y="3639240"/>
            <a:ext cx="265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49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731520" y="41331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meteoroloških stanica širom Australije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3840480" y="3566160"/>
            <a:ext cx="3017160" cy="100548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4023360" y="3639240"/>
            <a:ext cx="265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2007–2017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4023360" y="41331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period dnevnih merenja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5"/>
          <p:cNvSpPr/>
          <p:nvPr/>
        </p:nvSpPr>
        <p:spPr>
          <a:xfrm>
            <a:off x="7360920" y="1417320"/>
            <a:ext cx="4251600" cy="4663080"/>
          </a:xfrm>
          <a:prstGeom prst="roundRect">
            <a:avLst>
              <a:gd name="adj" fmla="val 2151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7680960" y="16916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CILJ RADA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7680960" y="2011680"/>
            <a:ext cx="36115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Predikcija da li će sledećeg dana pasti kiša (bar 1mm padavina), na osnovu istorijskih i trenutnih meteoroloških merenja.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7680960" y="3063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CILJNA PROMENLJIVA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7680960" y="3364920"/>
            <a:ext cx="361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RainTomorrow — binarna (Da / Ne)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0"/>
          <p:cNvSpPr/>
          <p:nvPr/>
        </p:nvSpPr>
        <p:spPr>
          <a:xfrm>
            <a:off x="7680960" y="38404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TIP PROBLEMA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1"/>
          <p:cNvSpPr/>
          <p:nvPr/>
        </p:nvSpPr>
        <p:spPr>
          <a:xfrm>
            <a:off x="7680960" y="4142160"/>
            <a:ext cx="361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Nadgledano učenje — binarna klasifikacija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7680960" y="46177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MERILO USPEHA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3"/>
          <p:cNvSpPr/>
          <p:nvPr/>
        </p:nvSpPr>
        <p:spPr>
          <a:xfrm>
            <a:off x="7680960" y="4919400"/>
            <a:ext cx="3611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Accuracy, ROC AUC, Precision, Recall — fokus na F1 skoru manjinske (kišne) klase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4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01 · UVOD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Ključni izazovi u podacima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548640" y="1554480"/>
            <a:ext cx="5257440" cy="18741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7632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822960" y="181044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822960" y="1792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7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b="0" lang="en-GB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1508760" y="17557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Nedostajuće vrednosti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868680" y="242316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Pojedini atributi (Sunshine, Evaporation, Cloud) imaju 40–48% nedostajućih vrednosti.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6126480" y="1554480"/>
            <a:ext cx="5257440" cy="18741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7632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6400800" y="181044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6400800" y="1792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7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b="0" lang="en-GB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7086600" y="17557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Fizičke i strukturalne greške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6446520" y="242316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Nerealna merenja (npr. nemogući skokovi pritiska, temperature van opsega) zahtevaju detekciju pre modelovanja.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2"/>
          <p:cNvSpPr/>
          <p:nvPr/>
        </p:nvSpPr>
        <p:spPr>
          <a:xfrm>
            <a:off x="548640" y="3703320"/>
            <a:ext cx="5257440" cy="18741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7632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822960" y="395928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822960" y="3940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7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b="0" lang="en-GB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1508760" y="39045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Prostorna disperzija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868680" y="457200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49 geografski razuđenih stanica — potrebno ih je adekvatno prostorno povezati.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7"/>
          <p:cNvSpPr/>
          <p:nvPr/>
        </p:nvSpPr>
        <p:spPr>
          <a:xfrm>
            <a:off x="6126480" y="3703320"/>
            <a:ext cx="5257440" cy="18741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7632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8"/>
          <p:cNvSpPr/>
          <p:nvPr/>
        </p:nvSpPr>
        <p:spPr>
          <a:xfrm>
            <a:off x="6400800" y="395928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9"/>
          <p:cNvSpPr/>
          <p:nvPr/>
        </p:nvSpPr>
        <p:spPr>
          <a:xfrm>
            <a:off x="6400800" y="3940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7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b="0" lang="en-GB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0"/>
          <p:cNvSpPr/>
          <p:nvPr/>
        </p:nvSpPr>
        <p:spPr>
          <a:xfrm>
            <a:off x="7086600" y="39045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Neuravnoteženost klasa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1"/>
          <p:cNvSpPr/>
          <p:nvPr/>
        </p:nvSpPr>
        <p:spPr>
          <a:xfrm>
            <a:off x="6446520" y="457200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Oko 77% dana bez padavina naspram 23% kišnih dana.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2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02 · METODOLOGIJA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Tok rada — od sirovih podataka do interpretacije modela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594360" y="1600200"/>
            <a:ext cx="333720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777240" y="178308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777240" y="1774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1280160" y="1600200"/>
            <a:ext cx="2514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Učitavanje i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formatiranje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3931920" y="1600200"/>
            <a:ext cx="3196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7"/>
          <p:cNvSpPr/>
          <p:nvPr/>
        </p:nvSpPr>
        <p:spPr>
          <a:xfrm>
            <a:off x="4251960" y="1600200"/>
            <a:ext cx="333720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8"/>
          <p:cNvSpPr/>
          <p:nvPr/>
        </p:nvSpPr>
        <p:spPr>
          <a:xfrm>
            <a:off x="4434840" y="178308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9"/>
          <p:cNvSpPr/>
          <p:nvPr/>
        </p:nvSpPr>
        <p:spPr>
          <a:xfrm>
            <a:off x="4434840" y="1774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0"/>
          <p:cNvSpPr/>
          <p:nvPr/>
        </p:nvSpPr>
        <p:spPr>
          <a:xfrm>
            <a:off x="4937760" y="1600200"/>
            <a:ext cx="2514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Detekcija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strukturalnih grešaka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1"/>
          <p:cNvSpPr/>
          <p:nvPr/>
        </p:nvSpPr>
        <p:spPr>
          <a:xfrm>
            <a:off x="7589520" y="1600200"/>
            <a:ext cx="3196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2"/>
          <p:cNvSpPr/>
          <p:nvPr/>
        </p:nvSpPr>
        <p:spPr>
          <a:xfrm>
            <a:off x="7909560" y="1600200"/>
            <a:ext cx="333720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3"/>
          <p:cNvSpPr/>
          <p:nvPr/>
        </p:nvSpPr>
        <p:spPr>
          <a:xfrm>
            <a:off x="8092440" y="178308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4"/>
          <p:cNvSpPr/>
          <p:nvPr/>
        </p:nvSpPr>
        <p:spPr>
          <a:xfrm>
            <a:off x="8092440" y="1774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5"/>
          <p:cNvSpPr/>
          <p:nvPr/>
        </p:nvSpPr>
        <p:spPr>
          <a:xfrm>
            <a:off x="8595360" y="1600200"/>
            <a:ext cx="2514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Eksplorativna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analiza (EDA)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6"/>
          <p:cNvSpPr/>
          <p:nvPr/>
        </p:nvSpPr>
        <p:spPr>
          <a:xfrm>
            <a:off x="594360" y="3154680"/>
            <a:ext cx="333720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7"/>
          <p:cNvSpPr/>
          <p:nvPr/>
        </p:nvSpPr>
        <p:spPr>
          <a:xfrm>
            <a:off x="777240" y="333756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8"/>
          <p:cNvSpPr/>
          <p:nvPr/>
        </p:nvSpPr>
        <p:spPr>
          <a:xfrm>
            <a:off x="777240" y="3328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9"/>
          <p:cNvSpPr/>
          <p:nvPr/>
        </p:nvSpPr>
        <p:spPr>
          <a:xfrm>
            <a:off x="1280160" y="3154680"/>
            <a:ext cx="2514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Podela trening / test 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(80/20)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0"/>
          <p:cNvSpPr/>
          <p:nvPr/>
        </p:nvSpPr>
        <p:spPr>
          <a:xfrm>
            <a:off x="3931920" y="3154680"/>
            <a:ext cx="3196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1"/>
          <p:cNvSpPr/>
          <p:nvPr/>
        </p:nvSpPr>
        <p:spPr>
          <a:xfrm>
            <a:off x="4251960" y="3154680"/>
            <a:ext cx="333720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2"/>
          <p:cNvSpPr/>
          <p:nvPr/>
        </p:nvSpPr>
        <p:spPr>
          <a:xfrm>
            <a:off x="4434840" y="333756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3"/>
          <p:cNvSpPr/>
          <p:nvPr/>
        </p:nvSpPr>
        <p:spPr>
          <a:xfrm>
            <a:off x="4434840" y="3328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4"/>
          <p:cNvSpPr/>
          <p:nvPr/>
        </p:nvSpPr>
        <p:spPr>
          <a:xfrm>
            <a:off x="4937760" y="3154680"/>
            <a:ext cx="2514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Detekcija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anomalija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5"/>
          <p:cNvSpPr/>
          <p:nvPr/>
        </p:nvSpPr>
        <p:spPr>
          <a:xfrm>
            <a:off x="7589520" y="3154680"/>
            <a:ext cx="3196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6"/>
          <p:cNvSpPr/>
          <p:nvPr/>
        </p:nvSpPr>
        <p:spPr>
          <a:xfrm>
            <a:off x="7909560" y="3154680"/>
            <a:ext cx="333720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7"/>
          <p:cNvSpPr/>
          <p:nvPr/>
        </p:nvSpPr>
        <p:spPr>
          <a:xfrm>
            <a:off x="8092440" y="333756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8"/>
          <p:cNvSpPr/>
          <p:nvPr/>
        </p:nvSpPr>
        <p:spPr>
          <a:xfrm>
            <a:off x="8092440" y="3328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9"/>
          <p:cNvSpPr/>
          <p:nvPr/>
        </p:nvSpPr>
        <p:spPr>
          <a:xfrm>
            <a:off x="8595360" y="3154680"/>
            <a:ext cx="2514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Inženjering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obeležja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0"/>
          <p:cNvSpPr/>
          <p:nvPr/>
        </p:nvSpPr>
        <p:spPr>
          <a:xfrm>
            <a:off x="594360" y="4709160"/>
            <a:ext cx="333720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1"/>
          <p:cNvSpPr/>
          <p:nvPr/>
        </p:nvSpPr>
        <p:spPr>
          <a:xfrm>
            <a:off x="777240" y="489204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2"/>
          <p:cNvSpPr/>
          <p:nvPr/>
        </p:nvSpPr>
        <p:spPr>
          <a:xfrm>
            <a:off x="777240" y="488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3"/>
          <p:cNvSpPr/>
          <p:nvPr/>
        </p:nvSpPr>
        <p:spPr>
          <a:xfrm>
            <a:off x="1280160" y="4709160"/>
            <a:ext cx="2514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Imputacija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nedostajućih vrednosti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4"/>
          <p:cNvSpPr/>
          <p:nvPr/>
        </p:nvSpPr>
        <p:spPr>
          <a:xfrm>
            <a:off x="3931920" y="4709160"/>
            <a:ext cx="3196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5"/>
          <p:cNvSpPr/>
          <p:nvPr/>
        </p:nvSpPr>
        <p:spPr>
          <a:xfrm>
            <a:off x="4251960" y="4709160"/>
            <a:ext cx="333720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6"/>
          <p:cNvSpPr/>
          <p:nvPr/>
        </p:nvSpPr>
        <p:spPr>
          <a:xfrm>
            <a:off x="4434840" y="489204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7"/>
          <p:cNvSpPr/>
          <p:nvPr/>
        </p:nvSpPr>
        <p:spPr>
          <a:xfrm>
            <a:off x="4434840" y="488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8"/>
          <p:cNvSpPr/>
          <p:nvPr/>
        </p:nvSpPr>
        <p:spPr>
          <a:xfrm>
            <a:off x="4937760" y="4709160"/>
            <a:ext cx="2514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Modelovanje i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optimizacija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9"/>
          <p:cNvSpPr/>
          <p:nvPr/>
        </p:nvSpPr>
        <p:spPr>
          <a:xfrm>
            <a:off x="7589520" y="4709160"/>
            <a:ext cx="3196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40"/>
          <p:cNvSpPr/>
          <p:nvPr/>
        </p:nvSpPr>
        <p:spPr>
          <a:xfrm>
            <a:off x="7909560" y="4709160"/>
            <a:ext cx="3337200" cy="123408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1"/>
          <p:cNvSpPr/>
          <p:nvPr/>
        </p:nvSpPr>
        <p:spPr>
          <a:xfrm>
            <a:off x="8092440" y="4892040"/>
            <a:ext cx="383760" cy="383760"/>
          </a:xfrm>
          <a:prstGeom prst="ellipse">
            <a:avLst/>
          </a:prstGeom>
          <a:solidFill>
            <a:srgbClr val="5fd1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2"/>
          <p:cNvSpPr/>
          <p:nvPr/>
        </p:nvSpPr>
        <p:spPr>
          <a:xfrm>
            <a:off x="8092440" y="488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3"/>
          <p:cNvSpPr/>
          <p:nvPr/>
        </p:nvSpPr>
        <p:spPr>
          <a:xfrm>
            <a:off x="8595360" y="4709160"/>
            <a:ext cx="2514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Interpretacija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modela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4"/>
          <p:cNvSpPr/>
          <p:nvPr/>
        </p:nvSpPr>
        <p:spPr>
          <a:xfrm>
            <a:off x="594360" y="630936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Svaka faza koristi isključivo trening deo podataka za izračunavanje statistika i treniranje pomoćnih modela, kako bi se izbeglo curenje informacija (data leakage).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5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03 · ČIŠĆENJE PODATAKA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Detekcija strukturalnih i fizičkih grešaka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548640" y="1508760"/>
            <a:ext cx="5348880" cy="44802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868680" y="17373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Kategorijske promenljive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868680" y="2148840"/>
            <a:ext cx="4754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Provera strogo definisanog domena vrednosti (npr. 16 standardnih smerova vetra). Rezultat: van nedostajućih vrednosti, nema grešaka unosa.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868680" y="3200400"/>
            <a:ext cx="4709160" cy="360"/>
          </a:xfrm>
          <a:prstGeom prst="line">
            <a:avLst/>
          </a:prstGeom>
          <a:ln w="12700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868680" y="33375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Fizički nemoguća merenja (anomalije)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868680" y="3749040"/>
            <a:ext cx="47545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Definisana su fizička pravila i granice (npr. MinTemp/MaxTemp odnos, realan opseg isparavanja). Vrednosti van pravila NISU brisane — postavljene su kao nedostajuće, da bi bile tretirane u fazi imputacije.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6172200" y="1508760"/>
            <a:ext cx="5440320" cy="4480200"/>
          </a:xfrm>
          <a:prstGeom prst="roundRect">
            <a:avLst>
              <a:gd name="adj" fmla="val 2041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6492240" y="173736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fd1c7"/>
                </a:solidFill>
                <a:effectLst/>
                <a:uFillTx/>
                <a:latin typeface="Cambria"/>
                <a:ea typeface="Cambria"/>
              </a:rPr>
              <a:t>Zašto ne brisati odmah?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6492240" y="214884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Neposredno brisanje redova sa anomalijama gubi vredne informacije iz ostalih, ispravnih atributa te iste opservacije.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1"/>
          <p:cNvSpPr/>
          <p:nvPr/>
        </p:nvSpPr>
        <p:spPr>
          <a:xfrm>
            <a:off x="6492240" y="3063240"/>
            <a:ext cx="4846320" cy="360"/>
          </a:xfrm>
          <a:prstGeom prst="line">
            <a:avLst/>
          </a:prstGeom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6492240" y="320040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fd1c7"/>
                </a:solidFill>
                <a:effectLst/>
                <a:uFillTx/>
                <a:latin typeface="Cambria"/>
                <a:ea typeface="Cambria"/>
              </a:rPr>
              <a:t>Efekat pravila po koloni (log obrade)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6492240" y="35661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Vrednosti van fizičkih granica su označene kao nedostajuće — broj novih nedostajućih vrednosti po koloni: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6492240" y="416052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RainToday  </a:t>
            </a:r>
            <a:r>
              <a:rPr b="1" lang="en-US" sz="1200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+1.759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9006840" y="416052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Temp3pm  </a:t>
            </a:r>
            <a:r>
              <a:rPr b="1" lang="en-US" sz="1200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+773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6492240" y="454464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Evaporation  </a:t>
            </a:r>
            <a:r>
              <a:rPr b="1" lang="en-US" sz="1200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+220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9006840" y="454464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Pressure3pm  </a:t>
            </a:r>
            <a:r>
              <a:rPr b="1" lang="en-US" sz="1200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+10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8"/>
          <p:cNvSpPr/>
          <p:nvPr/>
        </p:nvSpPr>
        <p:spPr>
          <a:xfrm>
            <a:off x="6492240" y="492876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Pressure9am  </a:t>
            </a:r>
            <a:r>
              <a:rPr b="1" lang="en-US" sz="1200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+10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9"/>
          <p:cNvSpPr/>
          <p:nvPr/>
        </p:nvSpPr>
        <p:spPr>
          <a:xfrm>
            <a:off x="9006840" y="492876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WindGustSpeed  </a:t>
            </a:r>
            <a:r>
              <a:rPr b="1" lang="en-US" sz="1200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+5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0"/>
          <p:cNvSpPr/>
          <p:nvPr/>
        </p:nvSpPr>
        <p:spPr>
          <a:xfrm>
            <a:off x="6492240" y="531252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Temp9am  </a:t>
            </a:r>
            <a:r>
              <a:rPr b="1" lang="en-US" sz="1200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+3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04 · EKSPLORATIVNA ANALIZA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Korelacije i multikolinearnost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0" descr="correlation_matrix_0.png"/>
          <p:cNvPicPr/>
          <p:nvPr/>
        </p:nvPicPr>
        <p:blipFill>
          <a:blip r:embed="rId1"/>
          <a:stretch/>
        </p:blipFill>
        <p:spPr>
          <a:xfrm>
            <a:off x="548640" y="1417320"/>
            <a:ext cx="5988960" cy="464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Shape 2"/>
          <p:cNvSpPr/>
          <p:nvPr/>
        </p:nvSpPr>
        <p:spPr>
          <a:xfrm>
            <a:off x="6766560" y="1417320"/>
            <a:ext cx="4891680" cy="466308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7040880" y="164592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Ključna zapažanja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7040880" y="2103120"/>
            <a:ext cx="443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•  MaxTemp ↔ Temp3pm: r = 0,99 (skoro identične)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7040880" y="2670120"/>
            <a:ext cx="443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•  Pressure9am ↔ Pressure3pm: r = 0,96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7040880" y="3237120"/>
            <a:ext cx="443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•  Sve temperaturske promenljive međusobno jako korelisane (0,86–0,90)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7040880" y="3803760"/>
            <a:ext cx="443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•  VIF: Temp3pm 56,4 · MaxTemp 47,2 · Temp9am 24,6 · Pressure 20,1 — iznad kritične granice 10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8"/>
          <p:cNvSpPr/>
          <p:nvPr/>
        </p:nvSpPr>
        <p:spPr>
          <a:xfrm>
            <a:off x="7040880" y="4572000"/>
            <a:ext cx="4343040" cy="137124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7269480" y="4690800"/>
            <a:ext cx="39315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Modeli zasnovani na stablima (Random Forest, XGBoost) otporni su na multikolinearnost — svaka podela koristi samo jedan atribut odjednom.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0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03–04 · PRIPREMA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Hronološka podela i statistička detekcija anomalija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548640" y="141732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Podela trening / test skupa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"/>
          <p:cNvSpPr/>
          <p:nvPr/>
        </p:nvSpPr>
        <p:spPr>
          <a:xfrm>
            <a:off x="548640" y="1783080"/>
            <a:ext cx="5211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Granica: 80. percentil datuma (hronološka podela, ne nasumična) — sprečava curenje informacija iz budućnosti.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"/>
          <p:cNvSpPr/>
          <p:nvPr/>
        </p:nvSpPr>
        <p:spPr>
          <a:xfrm>
            <a:off x="548640" y="2606040"/>
            <a:ext cx="4169160" cy="5025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5"/>
          <p:cNvSpPr/>
          <p:nvPr/>
        </p:nvSpPr>
        <p:spPr>
          <a:xfrm>
            <a:off x="4718160" y="2606040"/>
            <a:ext cx="1042200" cy="502560"/>
          </a:xfrm>
          <a:prstGeom prst="rect">
            <a:avLst/>
          </a:prstGeom>
          <a:solidFill>
            <a:srgbClr val="5fd1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6"/>
          <p:cNvSpPr/>
          <p:nvPr/>
        </p:nvSpPr>
        <p:spPr>
          <a:xfrm>
            <a:off x="548640" y="3182040"/>
            <a:ext cx="4169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Trening — 116.355 (80%)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7"/>
          <p:cNvSpPr/>
          <p:nvPr/>
        </p:nvSpPr>
        <p:spPr>
          <a:xfrm>
            <a:off x="3415320" y="318204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Test — 29.105 (20%)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8"/>
          <p:cNvSpPr/>
          <p:nvPr/>
        </p:nvSpPr>
        <p:spPr>
          <a:xfrm>
            <a:off x="548640" y="342900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2007. novembar – 2017. jun (145.460 opservacija ukupno)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9"/>
          <p:cNvSpPr/>
          <p:nvPr/>
        </p:nvSpPr>
        <p:spPr>
          <a:xfrm>
            <a:off x="548640" y="3977640"/>
            <a:ext cx="5211720" cy="2011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0"/>
          <p:cNvSpPr/>
          <p:nvPr/>
        </p:nvSpPr>
        <p:spPr>
          <a:xfrm>
            <a:off x="822960" y="4160520"/>
            <a:ext cx="46630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Sve statistike (medijane, modeli za imputaciju, pragovi anomalija) računaju se isključivo na trening skupu — test skup ostaje potpuno nedodirnut sve do finalne evaluacije.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1"/>
          <p:cNvSpPr/>
          <p:nvPr/>
        </p:nvSpPr>
        <p:spPr>
          <a:xfrm>
            <a:off x="6172200" y="1417320"/>
            <a:ext cx="5440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Statistička detekcija anomalija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2"/>
          <p:cNvSpPr/>
          <p:nvPr/>
        </p:nvSpPr>
        <p:spPr>
          <a:xfrm>
            <a:off x="6172200" y="1874520"/>
            <a:ext cx="544032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3"/>
          <p:cNvSpPr/>
          <p:nvPr/>
        </p:nvSpPr>
        <p:spPr>
          <a:xfrm>
            <a:off x="6355080" y="2057400"/>
            <a:ext cx="145800" cy="145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4"/>
          <p:cNvSpPr/>
          <p:nvPr/>
        </p:nvSpPr>
        <p:spPr>
          <a:xfrm>
            <a:off x="6629400" y="194760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Univarijantna analiza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5"/>
          <p:cNvSpPr/>
          <p:nvPr/>
        </p:nvSpPr>
        <p:spPr>
          <a:xfrm>
            <a:off x="6629400" y="225864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Modifikovani Z-skor (MAD) i robusne neparametarske metrike — usklađeno sa asimetričnom prirodom podataka.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6"/>
          <p:cNvSpPr/>
          <p:nvPr/>
        </p:nvSpPr>
        <p:spPr>
          <a:xfrm>
            <a:off x="6172200" y="2926080"/>
            <a:ext cx="544032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7"/>
          <p:cNvSpPr/>
          <p:nvPr/>
        </p:nvSpPr>
        <p:spPr>
          <a:xfrm>
            <a:off x="6355080" y="3108960"/>
            <a:ext cx="145800" cy="145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8"/>
          <p:cNvSpPr/>
          <p:nvPr/>
        </p:nvSpPr>
        <p:spPr>
          <a:xfrm>
            <a:off x="6629400" y="299916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Mahalanobisova udaljenost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9"/>
          <p:cNvSpPr/>
          <p:nvPr/>
        </p:nvSpPr>
        <p:spPr>
          <a:xfrm>
            <a:off x="6629400" y="331020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Meri udaljenost opservacije (n atributa) od centra višedimenzione raspodele.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0"/>
          <p:cNvSpPr/>
          <p:nvPr/>
        </p:nvSpPr>
        <p:spPr>
          <a:xfrm>
            <a:off x="6172200" y="3977640"/>
            <a:ext cx="544032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1"/>
          <p:cNvSpPr/>
          <p:nvPr/>
        </p:nvSpPr>
        <p:spPr>
          <a:xfrm>
            <a:off x="6355080" y="4160520"/>
            <a:ext cx="145800" cy="145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2"/>
          <p:cNvSpPr/>
          <p:nvPr/>
        </p:nvSpPr>
        <p:spPr>
          <a:xfrm>
            <a:off x="6629400" y="40507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LOF (Local Outlier Factor)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3"/>
          <p:cNvSpPr/>
          <p:nvPr/>
        </p:nvSpPr>
        <p:spPr>
          <a:xfrm>
            <a:off x="6629400" y="43617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Poredi lokalnu gustinu tačke sa gustinom suseda; detektuje i izolovane grupe (novitete).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4"/>
          <p:cNvSpPr/>
          <p:nvPr/>
        </p:nvSpPr>
        <p:spPr>
          <a:xfrm>
            <a:off x="6172200" y="5074920"/>
            <a:ext cx="5440320" cy="91404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5"/>
          <p:cNvSpPr/>
          <p:nvPr/>
        </p:nvSpPr>
        <p:spPr>
          <a:xfrm>
            <a:off x="6400800" y="5074920"/>
            <a:ext cx="4983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Tri metode → jedinstven skor. </a:t>
            </a:r>
            <a:r>
              <a:rPr b="0" lang="en-US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Prag: 2,5293 (izračunat na treningu). Od 160 detektovanih anomalija, 117 obrisano iz treninga; test skup ostaje netaknut.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6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8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05 · INŽENJERING OBELEŽJA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Novi atributi iz domenskog znanja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"/>
          <p:cNvSpPr/>
          <p:nvPr/>
        </p:nvSpPr>
        <p:spPr>
          <a:xfrm>
            <a:off x="548640" y="1508760"/>
            <a:ext cx="3520080" cy="2194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"/>
          <p:cNvSpPr/>
          <p:nvPr/>
        </p:nvSpPr>
        <p:spPr>
          <a:xfrm>
            <a:off x="548640" y="1508760"/>
            <a:ext cx="109440" cy="21942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822960" y="167328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Ciklično kodiranje vremena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822960" y="2258640"/>
            <a:ext cx="3108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Dan u godini kodiran sinusom/kosinusom; godina skalirana 0–1; smerovi vetra kodirani ciklično umesto proizvoljnim brojevima.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6"/>
          <p:cNvSpPr/>
          <p:nvPr/>
        </p:nvSpPr>
        <p:spPr>
          <a:xfrm>
            <a:off x="4297680" y="1508760"/>
            <a:ext cx="3520080" cy="2194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7"/>
          <p:cNvSpPr/>
          <p:nvPr/>
        </p:nvSpPr>
        <p:spPr>
          <a:xfrm>
            <a:off x="4297680" y="1508760"/>
            <a:ext cx="109440" cy="21942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4572000" y="167328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Diferencijalni atributi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4572000" y="2258640"/>
            <a:ext cx="3108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Promena veličine (npr. pritisak 9h→15h) često je jači signal od same vrednosti.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0"/>
          <p:cNvSpPr/>
          <p:nvPr/>
        </p:nvSpPr>
        <p:spPr>
          <a:xfrm>
            <a:off x="8046720" y="1508760"/>
            <a:ext cx="3520080" cy="2194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1"/>
          <p:cNvSpPr/>
          <p:nvPr/>
        </p:nvSpPr>
        <p:spPr>
          <a:xfrm>
            <a:off x="8046720" y="1508760"/>
            <a:ext cx="109440" cy="2194200"/>
          </a:xfrm>
          <a:prstGeom prst="rect">
            <a:avLst/>
          </a:prstGeom>
          <a:solidFill>
            <a:srgbClr val="5fd1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8321040" y="167328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Pokretni proseci i lag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8321040" y="2258640"/>
            <a:ext cx="3108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Proseci poslednja 3 dana i vrednosti iz prethodnih dana (npr. pritisak dan ranije), uz proveru rupa u vremenskoj seriji.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4"/>
          <p:cNvSpPr/>
          <p:nvPr/>
        </p:nvSpPr>
        <p:spPr>
          <a:xfrm>
            <a:off x="548640" y="3886200"/>
            <a:ext cx="3520080" cy="2194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5"/>
          <p:cNvSpPr/>
          <p:nvPr/>
        </p:nvSpPr>
        <p:spPr>
          <a:xfrm>
            <a:off x="548640" y="3886200"/>
            <a:ext cx="109440" cy="21942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6"/>
          <p:cNvSpPr/>
          <p:nvPr/>
        </p:nvSpPr>
        <p:spPr>
          <a:xfrm>
            <a:off x="822960" y="405072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Geografski podaci o stanicama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7"/>
          <p:cNvSpPr/>
          <p:nvPr/>
        </p:nvSpPr>
        <p:spPr>
          <a:xfrm>
            <a:off x="822960" y="4636080"/>
            <a:ext cx="3108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Nadmorska visina, inverzna udaljenost od okeana (4 pravca), klimatska zona (BOM klasifikacija) — sa zvaničnog sajta BOM.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8"/>
          <p:cNvSpPr/>
          <p:nvPr/>
        </p:nvSpPr>
        <p:spPr>
          <a:xfrm>
            <a:off x="4297680" y="3886200"/>
            <a:ext cx="3520080" cy="2194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9"/>
          <p:cNvSpPr/>
          <p:nvPr/>
        </p:nvSpPr>
        <p:spPr>
          <a:xfrm>
            <a:off x="4297680" y="3886200"/>
            <a:ext cx="109440" cy="21942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0"/>
          <p:cNvSpPr/>
          <p:nvPr/>
        </p:nvSpPr>
        <p:spPr>
          <a:xfrm>
            <a:off x="4572000" y="405072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Tačka rose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1"/>
          <p:cNvSpPr/>
          <p:nvPr/>
        </p:nvSpPr>
        <p:spPr>
          <a:xfrm>
            <a:off x="4572000" y="4636080"/>
            <a:ext cx="3108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Preuzeta sa Iowa Environmental Mesonet (ASOS) — fizička osnova za preciznu imputaciju vlažnosti.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2"/>
          <p:cNvSpPr/>
          <p:nvPr/>
        </p:nvSpPr>
        <p:spPr>
          <a:xfrm>
            <a:off x="8046720" y="3886200"/>
            <a:ext cx="3520080" cy="2194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3"/>
          <p:cNvSpPr/>
          <p:nvPr/>
        </p:nvSpPr>
        <p:spPr>
          <a:xfrm>
            <a:off x="8046720" y="3886200"/>
            <a:ext cx="109440" cy="2194200"/>
          </a:xfrm>
          <a:prstGeom prst="rect">
            <a:avLst/>
          </a:prstGeom>
          <a:solidFill>
            <a:srgbClr val="5fd1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4"/>
          <p:cNvSpPr/>
          <p:nvPr/>
        </p:nvSpPr>
        <p:spPr>
          <a:xfrm>
            <a:off x="8321040" y="405072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Indikatori nedostajanja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5"/>
          <p:cNvSpPr/>
          <p:nvPr/>
        </p:nvSpPr>
        <p:spPr>
          <a:xfrm>
            <a:off x="8321040" y="4636080"/>
            <a:ext cx="3108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Binarna kolona po atributu: da li je vrednost originalno nedostajala — nosi prediktivnu informaciju.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6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9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05 · EKSPLORATIVNA ANALIZA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Analiza značaja atributa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 0" descr="feature_importance_1.png"/>
          <p:cNvPicPr/>
          <p:nvPr/>
        </p:nvPicPr>
        <p:blipFill>
          <a:blip r:embed="rId1"/>
          <a:stretch/>
        </p:blipFill>
        <p:spPr>
          <a:xfrm>
            <a:off x="548640" y="1371600"/>
            <a:ext cx="6491880" cy="519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Shape 2"/>
          <p:cNvSpPr/>
          <p:nvPr/>
        </p:nvSpPr>
        <p:spPr>
          <a:xfrm>
            <a:off x="7315200" y="1417320"/>
            <a:ext cx="4343040" cy="461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7589520" y="16459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Metodologija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7589520" y="201168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Dva nezavisna pristupa: Random Forest feature importance i Mutual Information — kombinovani geometrijskom sredinom.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7589520" y="2880360"/>
            <a:ext cx="3794760" cy="360"/>
          </a:xfrm>
          <a:prstGeom prst="line">
            <a:avLst/>
          </a:prstGeom>
          <a:ln w="12700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7589520" y="30175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Najuticajniji atributi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7589520" y="338328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•  Humidity3pm — najjači prediktor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7589520" y="371232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•  Sunshine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7589520" y="404172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•  Max_Min_Temp_Diff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7589520" y="437076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•  Cloud3pm / Cloud9am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7589520" y="470016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•  Rainfall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2"/>
          <p:cNvSpPr/>
          <p:nvPr/>
        </p:nvSpPr>
        <p:spPr>
          <a:xfrm>
            <a:off x="7589520" y="5166360"/>
            <a:ext cx="3794400" cy="77688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3"/>
          <p:cNvSpPr/>
          <p:nvPr/>
        </p:nvSpPr>
        <p:spPr>
          <a:xfrm>
            <a:off x="7772400" y="5166360"/>
            <a:ext cx="3474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Značaj atributa ne prati nužno procenat nedostajućih vrednosti — nijedan atribut se ne odbacuje automatski.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4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LOG OBRADE · REKAPITULACIJA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Skup podataka kroz brojeve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"/>
          <p:cNvSpPr/>
          <p:nvPr/>
        </p:nvSpPr>
        <p:spPr>
          <a:xfrm>
            <a:off x="548640" y="141732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Rast broja kolona (inženjering obeležja)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3" name="Chart 0"/>
          <p:cNvGraphicFramePr/>
          <p:nvPr/>
        </p:nvGraphicFramePr>
        <p:xfrm>
          <a:off x="457200" y="1828800"/>
          <a:ext cx="5531760" cy="2788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4" name="Text 3"/>
          <p:cNvSpPr/>
          <p:nvPr/>
        </p:nvSpPr>
        <p:spPr>
          <a:xfrm>
            <a:off x="548640" y="470916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23 → 100 kolona: novi atributi iz vremenske, prostorne i statističke transformacije (odeljak 9).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6263640" y="141732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Smanjenje broja redova (čišćenje)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6263640" y="1828800"/>
            <a:ext cx="5394600" cy="658080"/>
          </a:xfrm>
          <a:prstGeom prst="roundRect">
            <a:avLst>
              <a:gd name="adj" fmla="val 9722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6"/>
          <p:cNvSpPr/>
          <p:nvPr/>
        </p:nvSpPr>
        <p:spPr>
          <a:xfrm>
            <a:off x="6446520" y="1828800"/>
            <a:ext cx="1554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145.460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7"/>
          <p:cNvSpPr/>
          <p:nvPr/>
        </p:nvSpPr>
        <p:spPr>
          <a:xfrm>
            <a:off x="8046720" y="1828800"/>
            <a:ext cx="3017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Sirovi podaci (ukupno)</a:t>
            </a:r>
            <a:endParaRPr b="0" lang="en-GB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8"/>
          <p:cNvSpPr/>
          <p:nvPr/>
        </p:nvSpPr>
        <p:spPr>
          <a:xfrm>
            <a:off x="6446520" y="2670120"/>
            <a:ext cx="5028840" cy="658080"/>
          </a:xfrm>
          <a:prstGeom prst="roundRect">
            <a:avLst>
              <a:gd name="adj" fmla="val 9722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9"/>
          <p:cNvSpPr/>
          <p:nvPr/>
        </p:nvSpPr>
        <p:spPr>
          <a:xfrm>
            <a:off x="6629400" y="2670120"/>
            <a:ext cx="1554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145.343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0"/>
          <p:cNvSpPr/>
          <p:nvPr/>
        </p:nvSpPr>
        <p:spPr>
          <a:xfrm>
            <a:off x="8229600" y="2670120"/>
            <a:ext cx="2651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Nakon uklanjanja anomalija iz treninga</a:t>
            </a:r>
            <a:endParaRPr b="0" lang="en-GB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1"/>
          <p:cNvSpPr/>
          <p:nvPr/>
        </p:nvSpPr>
        <p:spPr>
          <a:xfrm>
            <a:off x="10881360" y="2670120"/>
            <a:ext cx="5482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−117</a:t>
            </a:r>
            <a:endParaRPr b="0" lang="en-GB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2"/>
          <p:cNvSpPr/>
          <p:nvPr/>
        </p:nvSpPr>
        <p:spPr>
          <a:xfrm>
            <a:off x="6629400" y="3511440"/>
            <a:ext cx="4663080" cy="658080"/>
          </a:xfrm>
          <a:prstGeom prst="roundRect">
            <a:avLst>
              <a:gd name="adj" fmla="val 9722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6812280" y="3511440"/>
            <a:ext cx="1554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136.361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8412480" y="3511440"/>
            <a:ext cx="2285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Nakon brisanja redova sa previše nedostajućih vrednosti</a:t>
            </a:r>
            <a:endParaRPr b="0" lang="en-GB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5"/>
          <p:cNvSpPr/>
          <p:nvPr/>
        </p:nvSpPr>
        <p:spPr>
          <a:xfrm>
            <a:off x="10620000" y="3511440"/>
            <a:ext cx="62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−8.982</a:t>
            </a:r>
            <a:endParaRPr b="0" lang="en-GB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6"/>
          <p:cNvSpPr/>
          <p:nvPr/>
        </p:nvSpPr>
        <p:spPr>
          <a:xfrm>
            <a:off x="6812280" y="4352400"/>
            <a:ext cx="4297320" cy="658080"/>
          </a:xfrm>
          <a:prstGeom prst="roundRect">
            <a:avLst>
              <a:gd name="adj" fmla="val 9722"/>
            </a:avLst>
          </a:prstGeom>
          <a:solidFill>
            <a:srgbClr val="5fd1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7"/>
          <p:cNvSpPr/>
          <p:nvPr/>
        </p:nvSpPr>
        <p:spPr>
          <a:xfrm>
            <a:off x="6995160" y="4352400"/>
            <a:ext cx="1554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133.283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8"/>
          <p:cNvSpPr/>
          <p:nvPr/>
        </p:nvSpPr>
        <p:spPr>
          <a:xfrm>
            <a:off x="8595360" y="4352400"/>
            <a:ext cx="1919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Finalni skup — bez redova bez poznatog RainTomorrow</a:t>
            </a:r>
            <a:endParaRPr b="0" lang="en-GB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9"/>
          <p:cNvSpPr/>
          <p:nvPr/>
        </p:nvSpPr>
        <p:spPr>
          <a:xfrm>
            <a:off x="10260000" y="4352400"/>
            <a:ext cx="80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−3.078</a:t>
            </a:r>
            <a:endParaRPr b="0" lang="en-GB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0"/>
          <p:cNvSpPr/>
          <p:nvPr/>
        </p:nvSpPr>
        <p:spPr>
          <a:xfrm>
            <a:off x="6263640" y="5257800"/>
            <a:ext cx="5394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Redovi sa previše nedostajućih vrednosti brisani su tek nakon inženjeringa obeležja i pre imputacije — kako imputacioni modeli ne bi učili iz redova sa premalo informacija.</a:t>
            </a:r>
            <a:endParaRPr b="0" lang="en-GB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1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06 · IMPUTACIJA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Popunjavanje nedostajućih vrednosti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"/>
          <p:cNvSpPr/>
          <p:nvPr/>
        </p:nvSpPr>
        <p:spPr>
          <a:xfrm>
            <a:off x="548640" y="1463040"/>
            <a:ext cx="5348880" cy="2331360"/>
          </a:xfrm>
          <a:prstGeom prst="roundRect">
            <a:avLst>
              <a:gd name="adj" fmla="val 3922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"/>
          <p:cNvSpPr/>
          <p:nvPr/>
        </p:nvSpPr>
        <p:spPr>
          <a:xfrm>
            <a:off x="822960" y="164592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Potpuno nedostajući atributi po stanici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4"/>
          <p:cNvSpPr/>
          <p:nvPr/>
        </p:nvSpPr>
        <p:spPr>
          <a:xfrm>
            <a:off x="822960" y="2148840"/>
            <a:ext cx="48459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Neke stanice nemaju senzor za određeni atribut (npr. Adelaide — oblačnost). Rešenje: grupisanje stanica po geografskoj udaljenosti (Toblerov zakon geografije) i imputacija na osnovu korelisanih suseda.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5"/>
          <p:cNvSpPr/>
          <p:nvPr/>
        </p:nvSpPr>
        <p:spPr>
          <a:xfrm>
            <a:off x="6172200" y="146304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6"/>
          <p:cNvSpPr/>
          <p:nvPr/>
        </p:nvSpPr>
        <p:spPr>
          <a:xfrm>
            <a:off x="6446520" y="164592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Nasumično nedostajuće vrednosti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7"/>
          <p:cNvSpPr/>
          <p:nvPr/>
        </p:nvSpPr>
        <p:spPr>
          <a:xfrm>
            <a:off x="6446520" y="2148840"/>
            <a:ext cx="49374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Dvokoračni pristup, npr. za Pressure9am: ponderisani prosek suseda popuni 68% redova (R²=0,99), Random Forest dopuni ostatak (R²=0,97). Vlažnost dodatno imputirana fizičkom formulom preko tačke rose.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8"/>
          <p:cNvSpPr/>
          <p:nvPr/>
        </p:nvSpPr>
        <p:spPr>
          <a:xfrm>
            <a:off x="548640" y="3977640"/>
            <a:ext cx="11063880" cy="233136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9"/>
          <p:cNvSpPr/>
          <p:nvPr/>
        </p:nvSpPr>
        <p:spPr>
          <a:xfrm>
            <a:off x="822960" y="41605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Provera kvaliteta imputacije — R² po koloni (log obrade)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3" name="Chart 0"/>
          <p:cNvGraphicFramePr/>
          <p:nvPr/>
        </p:nvGraphicFramePr>
        <p:xfrm>
          <a:off x="457200" y="4526280"/>
          <a:ext cx="10240920" cy="1691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4" name="Text 10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07 · MODELOVANJE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Neuravnoteženost klasa i optimizacija praga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"/>
          <p:cNvSpPr/>
          <p:nvPr/>
        </p:nvSpPr>
        <p:spPr>
          <a:xfrm>
            <a:off x="548640" y="1463040"/>
            <a:ext cx="5348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Podrazumevani prag P ≥ 0,50 previše je restriktivan za neuravnoteženi skup (77% dana bez kiše) — rezultuje velikim brojem lažno negativnih predikcija (model propušta kišu).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548640" y="2651760"/>
            <a:ext cx="5348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Rešenje: aproksimacija performansi kroz opseg pragova (0,10–0,82) i odabir praga koji maksimizuje F1 ocenu za kišnu (manjinsku) klasu.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548640" y="3840480"/>
            <a:ext cx="5348880" cy="2148480"/>
          </a:xfrm>
          <a:prstGeom prst="roundRect">
            <a:avLst>
              <a:gd name="adj" fmla="val 4255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822960" y="4023360"/>
            <a:ext cx="4845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Dodatni prostorno-vremenski atributi (istraženi, izostavljeni iz finalnog modela)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6"/>
          <p:cNvSpPr/>
          <p:nvPr/>
        </p:nvSpPr>
        <p:spPr>
          <a:xfrm>
            <a:off x="822960" y="4617720"/>
            <a:ext cx="48459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Ponderisani prosek RainToday i Pressure3pm suseda u radijusu 300km — doprinos svega 2–3% odluke modela (naspram ~31% za Humidity3pm), pa su izostavljeni radi jednostavnijeg serviranja.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"/>
          <p:cNvSpPr/>
          <p:nvPr/>
        </p:nvSpPr>
        <p:spPr>
          <a:xfrm>
            <a:off x="6172200" y="1463040"/>
            <a:ext cx="5440320" cy="452592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8"/>
          <p:cNvSpPr/>
          <p:nvPr/>
        </p:nvSpPr>
        <p:spPr>
          <a:xfrm>
            <a:off x="6446520" y="16916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Kompromis: Precision vs. Recall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9"/>
          <p:cNvSpPr/>
          <p:nvPr/>
        </p:nvSpPr>
        <p:spPr>
          <a:xfrm>
            <a:off x="6446520" y="2194560"/>
            <a:ext cx="4845960" cy="868320"/>
          </a:xfrm>
          <a:prstGeom prst="roundRect">
            <a:avLst>
              <a:gd name="adj" fmla="val 8421"/>
            </a:avLst>
          </a:prstGeom>
          <a:solidFill>
            <a:srgbClr val="f4f8fb"/>
          </a:solidFill>
          <a:ln w="6350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0"/>
          <p:cNvSpPr/>
          <p:nvPr/>
        </p:nvSpPr>
        <p:spPr>
          <a:xfrm>
            <a:off x="6675120" y="2286000"/>
            <a:ext cx="4388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Niži prag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1"/>
          <p:cNvSpPr/>
          <p:nvPr/>
        </p:nvSpPr>
        <p:spPr>
          <a:xfrm>
            <a:off x="6675120" y="2578680"/>
            <a:ext cx="4388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↑ Recall (hvata više kišnih dana) · ↓ Precision (više lažnih alarma)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2"/>
          <p:cNvSpPr/>
          <p:nvPr/>
        </p:nvSpPr>
        <p:spPr>
          <a:xfrm>
            <a:off x="6446520" y="3246120"/>
            <a:ext cx="4845960" cy="868320"/>
          </a:xfrm>
          <a:prstGeom prst="roundRect">
            <a:avLst>
              <a:gd name="adj" fmla="val 8421"/>
            </a:avLst>
          </a:prstGeom>
          <a:solidFill>
            <a:srgbClr val="f4f8fb"/>
          </a:solidFill>
          <a:ln w="6350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3"/>
          <p:cNvSpPr/>
          <p:nvPr/>
        </p:nvSpPr>
        <p:spPr>
          <a:xfrm>
            <a:off x="6675120" y="3337560"/>
            <a:ext cx="4388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Viši prag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4"/>
          <p:cNvSpPr/>
          <p:nvPr/>
        </p:nvSpPr>
        <p:spPr>
          <a:xfrm>
            <a:off x="6675120" y="3630240"/>
            <a:ext cx="4388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↑ Precision (pouzdanije pozitivne predikcije) · ↓ Recall (propušta kišu)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5"/>
          <p:cNvSpPr/>
          <p:nvPr/>
        </p:nvSpPr>
        <p:spPr>
          <a:xfrm>
            <a:off x="6446520" y="443484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Finalni izabrani pragovi (po modelu)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6"/>
          <p:cNvSpPr/>
          <p:nvPr/>
        </p:nvSpPr>
        <p:spPr>
          <a:xfrm>
            <a:off x="6446520" y="4800600"/>
            <a:ext cx="4845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Decision Tree: 0,54   ·   Random Forest: 0,44   ·   XGBoost (balans.): 0,36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7"/>
          <p:cNvSpPr/>
          <p:nvPr/>
        </p:nvSpPr>
        <p:spPr>
          <a:xfrm>
            <a:off x="6446520" y="539496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Optimizacija sprovedena isključivo na trening/validacionim podacima.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8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07 · REZULTATI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Poređenje modela na test skupu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6" name="Table 0"/>
          <p:cNvGraphicFramePr/>
          <p:nvPr/>
        </p:nvGraphicFramePr>
        <p:xfrm>
          <a:off x="548640" y="1508760"/>
          <a:ext cx="11109600" cy="2102760"/>
        </p:xfrm>
        <a:graphic>
          <a:graphicData uri="http://schemas.openxmlformats.org/drawingml/2006/table">
            <a:tbl>
              <a:tblPr/>
              <a:tblGrid>
                <a:gridCol w="2834640"/>
                <a:gridCol w="1234440"/>
                <a:gridCol w="1691640"/>
                <a:gridCol w="1691640"/>
                <a:gridCol w="1280160"/>
                <a:gridCol w="1463040"/>
                <a:gridCol w="91440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</a:t>
                      </a:r>
                      <a:endParaRPr b="0" lang="en-GB" sz="12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Prag</a:t>
                      </a:r>
                      <a:endParaRPr b="0" lang="en-GB" sz="12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Tačnost</a:t>
                      </a:r>
                      <a:endParaRPr b="0" lang="en-GB" sz="12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ROC AUC</a:t>
                      </a:r>
                      <a:endParaRPr b="0" lang="en-GB" sz="12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F1 (kiša)</a:t>
                      </a:r>
                      <a:endParaRPr b="0" lang="en-GB" sz="12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Precision</a:t>
                      </a:r>
                      <a:endParaRPr b="0" lang="en-GB" sz="12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Recall</a:t>
                      </a:r>
                      <a:endParaRPr b="0" lang="en-GB" sz="12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trike="noStrike" u="non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Decision Tree (balans.)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0,54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78,8%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0,846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0,60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trike="noStrike" u="non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Random Forest (balans.)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e7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0,44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e7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82,4%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e7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0,871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e7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0,64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e7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0,59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e7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0,70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e7f3f7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trike="noStrike" u="non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XGBoost (balans.)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0,36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0,876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0,64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0,74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trike="noStrike" u="non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XGBoost (bez balans.)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0,50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85,0%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0,72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trike="noStrike" u="none">
                          <a:solidFill>
                            <a:srgbClr val="1226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0,53</a:t>
                      </a:r>
                      <a:endParaRPr b="0" lang="en-GB" sz="12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9e4ea"/>
                      </a:solidFill>
                      <a:prstDash val="solid"/>
                    </a:lnL>
                    <a:lnR w="9360">
                      <a:solidFill>
                        <a:srgbClr val="d9e4ea"/>
                      </a:solidFill>
                      <a:prstDash val="solid"/>
                    </a:lnR>
                    <a:lnT w="9360">
                      <a:solidFill>
                        <a:srgbClr val="d9e4ea"/>
                      </a:solidFill>
                      <a:prstDash val="solid"/>
                    </a:lnT>
                    <a:lnB w="9360">
                      <a:solidFill>
                        <a:srgbClr val="d9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" name="Text 2"/>
          <p:cNvSpPr/>
          <p:nvPr/>
        </p:nvSpPr>
        <p:spPr>
          <a:xfrm>
            <a:off x="548640" y="3794760"/>
            <a:ext cx="11109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Random Forest sa pragom 0,44 ostvaruje najbolji balans preciznosti i odziva — istaknuto u tabeli.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548640" y="4343400"/>
            <a:ext cx="3520080" cy="1691280"/>
          </a:xfrm>
          <a:prstGeom prst="roundRect">
            <a:avLst>
              <a:gd name="adj" fmla="val 5405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548640" y="4526280"/>
            <a:ext cx="3520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77%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822960" y="516636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dana bez padavina — bazna neuravnoteženost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4297680" y="4343400"/>
            <a:ext cx="3520080" cy="169128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7"/>
          <p:cNvSpPr/>
          <p:nvPr/>
        </p:nvSpPr>
        <p:spPr>
          <a:xfrm>
            <a:off x="4297680" y="4526280"/>
            <a:ext cx="3520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0,876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4572000" y="516636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najviši ROC AUC — XGBoost (balansiran)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9"/>
          <p:cNvSpPr/>
          <p:nvPr/>
        </p:nvSpPr>
        <p:spPr>
          <a:xfrm>
            <a:off x="8046720" y="4343400"/>
            <a:ext cx="3520080" cy="1691280"/>
          </a:xfrm>
          <a:prstGeom prst="roundRect">
            <a:avLst>
              <a:gd name="adj" fmla="val 5405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0"/>
          <p:cNvSpPr/>
          <p:nvPr/>
        </p:nvSpPr>
        <p:spPr>
          <a:xfrm>
            <a:off x="8046720" y="4526280"/>
            <a:ext cx="3520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0,64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1"/>
          <p:cNvSpPr/>
          <p:nvPr/>
        </p:nvSpPr>
        <p:spPr>
          <a:xfrm>
            <a:off x="8321040" y="516636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F1 za kišnu klasu — RF i XGBoost (balans.)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2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08 · INTERPRETACIJA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Zašto XGBoost i kako donosi odluku?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"/>
          <p:cNvSpPr/>
          <p:nvPr/>
        </p:nvSpPr>
        <p:spPr>
          <a:xfrm>
            <a:off x="548640" y="1417320"/>
            <a:ext cx="11109600" cy="959760"/>
          </a:xfrm>
          <a:prstGeom prst="roundRect">
            <a:avLst>
              <a:gd name="adj" fmla="val 7619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3"/>
          <p:cNvSpPr/>
          <p:nvPr/>
        </p:nvSpPr>
        <p:spPr>
          <a:xfrm>
            <a:off x="822960" y="1417320"/>
            <a:ext cx="105609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Iako Random Forest ima praktično isti F1, </a:t>
            </a:r>
            <a:r>
              <a:rPr b="1" lang="en-US" sz="1300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XGBoost postiže najviši ROC AUC (0,876) i viši odziv za kišnu klasu,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njegov jednostavan i konzistentan skup od 10 atributa (odeljak 10) čini ga pogodnijim za servisiranje uživo — zbog toga je izabran kao finalni model (xgboost_tezinsko_f1).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Image 0" descr="xgb_feature_importance_0.png"/>
          <p:cNvPicPr/>
          <p:nvPr/>
        </p:nvPicPr>
        <p:blipFill>
          <a:blip r:embed="rId1"/>
          <a:stretch/>
        </p:blipFill>
        <p:spPr>
          <a:xfrm>
            <a:off x="548640" y="2606040"/>
            <a:ext cx="6674760" cy="370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Shape 4"/>
          <p:cNvSpPr/>
          <p:nvPr/>
        </p:nvSpPr>
        <p:spPr>
          <a:xfrm>
            <a:off x="7452360" y="2606040"/>
            <a:ext cx="4205880" cy="37029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5"/>
          <p:cNvSpPr/>
          <p:nvPr/>
        </p:nvSpPr>
        <p:spPr>
          <a:xfrm>
            <a:off x="7680960" y="27889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Značaj po atributu (gain)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6"/>
          <p:cNvSpPr/>
          <p:nvPr/>
        </p:nvSpPr>
        <p:spPr>
          <a:xfrm>
            <a:off x="7680960" y="320040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Humidity3pm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7"/>
          <p:cNvSpPr/>
          <p:nvPr/>
        </p:nvSpPr>
        <p:spPr>
          <a:xfrm>
            <a:off x="10149840" y="3200400"/>
            <a:ext cx="141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0,341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8"/>
          <p:cNvSpPr/>
          <p:nvPr/>
        </p:nvSpPr>
        <p:spPr>
          <a:xfrm>
            <a:off x="7680960" y="356616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Sunshine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10149840" y="3566160"/>
            <a:ext cx="141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0,216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0"/>
          <p:cNvSpPr/>
          <p:nvPr/>
        </p:nvSpPr>
        <p:spPr>
          <a:xfrm>
            <a:off x="7680960" y="393192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Rainfall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1"/>
          <p:cNvSpPr/>
          <p:nvPr/>
        </p:nvSpPr>
        <p:spPr>
          <a:xfrm>
            <a:off x="10149840" y="3931920"/>
            <a:ext cx="141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0,102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2"/>
          <p:cNvSpPr/>
          <p:nvPr/>
        </p:nvSpPr>
        <p:spPr>
          <a:xfrm>
            <a:off x="7680960" y="429768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WindGustSpeed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3"/>
          <p:cNvSpPr/>
          <p:nvPr/>
        </p:nvSpPr>
        <p:spPr>
          <a:xfrm>
            <a:off x="10149840" y="4297680"/>
            <a:ext cx="141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0,094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4"/>
          <p:cNvSpPr/>
          <p:nvPr/>
        </p:nvSpPr>
        <p:spPr>
          <a:xfrm>
            <a:off x="7680960" y="466344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Pressure3pm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5"/>
          <p:cNvSpPr/>
          <p:nvPr/>
        </p:nvSpPr>
        <p:spPr>
          <a:xfrm>
            <a:off x="10149840" y="4663440"/>
            <a:ext cx="141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0,091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6"/>
          <p:cNvSpPr/>
          <p:nvPr/>
        </p:nvSpPr>
        <p:spPr>
          <a:xfrm>
            <a:off x="7680960" y="5166360"/>
            <a:ext cx="3749040" cy="360"/>
          </a:xfrm>
          <a:prstGeom prst="line">
            <a:avLst/>
          </a:prstGeom>
          <a:ln w="9525">
            <a:solidFill>
              <a:srgbClr val="8fc1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7"/>
          <p:cNvSpPr/>
          <p:nvPr/>
        </p:nvSpPr>
        <p:spPr>
          <a:xfrm>
            <a:off x="7680960" y="530352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Fizikalno smisleno: visoka vlažnost i nizak pritisak popodne su klasični prekursori fronta koji donosi kišu narednog dana.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8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08 · INTERPRETACIJA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Pravac i intenzitet uticaja (parcijalna zavisnost)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"/>
          <p:cNvSpPr/>
          <p:nvPr/>
        </p:nvSpPr>
        <p:spPr>
          <a:xfrm>
            <a:off x="548640" y="1417320"/>
            <a:ext cx="11109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Značaj atributa govori koliko je nešto bitno, ali ne i u kom pravcu utiče. Parcijalna zavisnost (Partial Dependence) pokazuje kako se predviđena verovatnoća kiše menja sa vrednošću jednog atributa, dok su ostali fiksirani na proseku.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1" name="Image 0" descr="partial_dependence_0.png"/>
          <p:cNvPicPr/>
          <p:nvPr/>
        </p:nvPicPr>
        <p:blipFill>
          <a:blip r:embed="rId1"/>
          <a:stretch/>
        </p:blipFill>
        <p:spPr>
          <a:xfrm>
            <a:off x="822960" y="2194560"/>
            <a:ext cx="10515240" cy="306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Shape 3"/>
          <p:cNvSpPr/>
          <p:nvPr/>
        </p:nvSpPr>
        <p:spPr>
          <a:xfrm>
            <a:off x="548640" y="5394960"/>
            <a:ext cx="5394600" cy="105120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777240" y="548640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Humidity3pm ↑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"/>
          <p:cNvSpPr/>
          <p:nvPr/>
        </p:nvSpPr>
        <p:spPr>
          <a:xfrm>
            <a:off x="777240" y="580644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Verovatnoća kiše raste skoro monotono, sa ≈0,06 (niska vlažnost) do ≈0,55 (visoka vlažnost popodne).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6"/>
          <p:cNvSpPr/>
          <p:nvPr/>
        </p:nvSpPr>
        <p:spPr>
          <a:xfrm>
            <a:off x="6172200" y="5394960"/>
            <a:ext cx="5394600" cy="105120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7"/>
          <p:cNvSpPr/>
          <p:nvPr/>
        </p:nvSpPr>
        <p:spPr>
          <a:xfrm>
            <a:off x="6400800" y="548640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Sunshine ↑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8"/>
          <p:cNvSpPr/>
          <p:nvPr/>
        </p:nvSpPr>
        <p:spPr>
          <a:xfrm>
            <a:off x="6400800" y="580644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Verovatnoća kiše opada monotono, sa ≈0,42 (bez sunca) do ≈0,10 (mnogo sunčanih sati).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9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5fd1c7"/>
                </a:solidFill>
                <a:effectLst/>
                <a:uFillTx/>
                <a:latin typeface="Calibri"/>
                <a:ea typeface="Calibri"/>
              </a:rPr>
              <a:t>ZAKLJUČAK</a:t>
            </a:r>
            <a:endParaRPr b="0" lang="en-GB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548640" y="65844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Zaključak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548640" y="1417320"/>
            <a:ext cx="6400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Predikcija kiše za naredni dan uspešno je modelovana kao problem binarne klasifikacije, uz pažljivu pripremu podataka: korekciju fizičkih i strukturnih grešaka, detekciju anomalija, inženjering obeležja i imputaciju (prostornu i Random Forest).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3"/>
          <p:cNvSpPr/>
          <p:nvPr/>
        </p:nvSpPr>
        <p:spPr>
          <a:xfrm>
            <a:off x="548640" y="3063240"/>
            <a:ext cx="3062880" cy="100548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4"/>
          <p:cNvSpPr/>
          <p:nvPr/>
        </p:nvSpPr>
        <p:spPr>
          <a:xfrm>
            <a:off x="731520" y="313632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133.283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5"/>
          <p:cNvSpPr/>
          <p:nvPr/>
        </p:nvSpPr>
        <p:spPr>
          <a:xfrm>
            <a:off x="731520" y="3630240"/>
            <a:ext cx="2697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opservacija u finalnom skupu</a:t>
            </a:r>
            <a:endParaRPr b="0" lang="en-GB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6"/>
          <p:cNvSpPr/>
          <p:nvPr/>
        </p:nvSpPr>
        <p:spPr>
          <a:xfrm>
            <a:off x="3840480" y="3063240"/>
            <a:ext cx="3062880" cy="100548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7"/>
          <p:cNvSpPr/>
          <p:nvPr/>
        </p:nvSpPr>
        <p:spPr>
          <a:xfrm>
            <a:off x="4023360" y="313632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107.152 / 26.131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8"/>
          <p:cNvSpPr/>
          <p:nvPr/>
        </p:nvSpPr>
        <p:spPr>
          <a:xfrm>
            <a:off x="4023360" y="3630240"/>
            <a:ext cx="2697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trening / test (hronološki)</a:t>
            </a:r>
            <a:endParaRPr b="0" lang="en-GB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9"/>
          <p:cNvSpPr/>
          <p:nvPr/>
        </p:nvSpPr>
        <p:spPr>
          <a:xfrm>
            <a:off x="548640" y="4297680"/>
            <a:ext cx="3062880" cy="100548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0"/>
          <p:cNvSpPr/>
          <p:nvPr/>
        </p:nvSpPr>
        <p:spPr>
          <a:xfrm>
            <a:off x="731520" y="437076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0,871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1"/>
          <p:cNvSpPr/>
          <p:nvPr/>
        </p:nvSpPr>
        <p:spPr>
          <a:xfrm>
            <a:off x="731520" y="4864680"/>
            <a:ext cx="2697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ROC AUC — Random Forest</a:t>
            </a:r>
            <a:endParaRPr b="0" lang="en-GB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2"/>
          <p:cNvSpPr/>
          <p:nvPr/>
        </p:nvSpPr>
        <p:spPr>
          <a:xfrm>
            <a:off x="3840480" y="4297680"/>
            <a:ext cx="3062880" cy="100548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3"/>
          <p:cNvSpPr/>
          <p:nvPr/>
        </p:nvSpPr>
        <p:spPr>
          <a:xfrm>
            <a:off x="4023360" y="437076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0,64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4"/>
          <p:cNvSpPr/>
          <p:nvPr/>
        </p:nvSpPr>
        <p:spPr>
          <a:xfrm>
            <a:off x="4023360" y="4864680"/>
            <a:ext cx="2697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F1 skor kišne klase</a:t>
            </a:r>
            <a:endParaRPr b="0" lang="en-GB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5"/>
          <p:cNvSpPr/>
          <p:nvPr/>
        </p:nvSpPr>
        <p:spPr>
          <a:xfrm>
            <a:off x="7360920" y="1417320"/>
            <a:ext cx="4251600" cy="4708800"/>
          </a:xfrm>
          <a:prstGeom prst="roundRect">
            <a:avLst>
              <a:gd name="adj" fmla="val 215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6"/>
          <p:cNvSpPr/>
          <p:nvPr/>
        </p:nvSpPr>
        <p:spPr>
          <a:xfrm>
            <a:off x="7635240" y="164592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Napomene i ograničenja</a:t>
            </a:r>
            <a:endParaRPr b="0" lang="en-GB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7"/>
          <p:cNvSpPr/>
          <p:nvPr/>
        </p:nvSpPr>
        <p:spPr>
          <a:xfrm>
            <a:off x="7635240" y="210312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Multikolinearnost (VIF &gt; 10) zaobiđena izborom stablo-baziranih modela i izvedenih atributa.</a:t>
            </a:r>
            <a:endParaRPr b="0" lang="en-GB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8"/>
          <p:cNvSpPr/>
          <p:nvPr/>
        </p:nvSpPr>
        <p:spPr>
          <a:xfrm>
            <a:off x="7635240" y="306324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Podaci pokrivaju samo 2007–2017. i samo australijske stanice — model ne vidi novije klimatske trendove.</a:t>
            </a:r>
            <a:endParaRPr b="0" lang="en-GB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9"/>
          <p:cNvSpPr/>
          <p:nvPr/>
        </p:nvSpPr>
        <p:spPr>
          <a:xfrm>
            <a:off x="7635240" y="402336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Sunshine, Evaporation i oblačnost delom su procenjene imputacijom, a ne stvarno izmerene.</a:t>
            </a:r>
            <a:endParaRPr b="0" lang="en-GB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0"/>
          <p:cNvSpPr/>
          <p:nvPr/>
        </p:nvSpPr>
        <p:spPr>
          <a:xfrm>
            <a:off x="7635240" y="498348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Neizbežan kompromis preciznost/odziv zbog izražene neuravnoteženosti klasa (77% / 23%).</a:t>
            </a:r>
            <a:endParaRPr b="0" lang="en-GB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1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PRAVCI DALJEG RAZVOJA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"/>
          <p:cNvSpPr/>
          <p:nvPr/>
        </p:nvSpPr>
        <p:spPr>
          <a:xfrm>
            <a:off x="548640" y="658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Budući rad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2"/>
          <p:cNvSpPr/>
          <p:nvPr/>
        </p:nvSpPr>
        <p:spPr>
          <a:xfrm>
            <a:off x="548640" y="1645920"/>
            <a:ext cx="3520080" cy="2742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3"/>
          <p:cNvSpPr/>
          <p:nvPr/>
        </p:nvSpPr>
        <p:spPr>
          <a:xfrm>
            <a:off x="2057400" y="18745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4"/>
          <p:cNvSpPr/>
          <p:nvPr/>
        </p:nvSpPr>
        <p:spPr>
          <a:xfrm>
            <a:off x="2057400" y="1856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7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b="0" lang="en-GB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5"/>
          <p:cNvSpPr/>
          <p:nvPr/>
        </p:nvSpPr>
        <p:spPr>
          <a:xfrm>
            <a:off x="777240" y="251460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Satelitski podaci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6"/>
          <p:cNvSpPr/>
          <p:nvPr/>
        </p:nvSpPr>
        <p:spPr>
          <a:xfrm>
            <a:off x="822960" y="3108960"/>
            <a:ext cx="2971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Uključivanje satelitskih snimaka oblačnosti ili sinoptičkih karata kao dodatnog izvora informacija.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7"/>
          <p:cNvSpPr/>
          <p:nvPr/>
        </p:nvSpPr>
        <p:spPr>
          <a:xfrm>
            <a:off x="4297680" y="1645920"/>
            <a:ext cx="3520080" cy="2742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8"/>
          <p:cNvSpPr/>
          <p:nvPr/>
        </p:nvSpPr>
        <p:spPr>
          <a:xfrm>
            <a:off x="5806440" y="187452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9"/>
          <p:cNvSpPr/>
          <p:nvPr/>
        </p:nvSpPr>
        <p:spPr>
          <a:xfrm>
            <a:off x="5806440" y="1856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7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b="0" lang="en-GB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0"/>
          <p:cNvSpPr/>
          <p:nvPr/>
        </p:nvSpPr>
        <p:spPr>
          <a:xfrm>
            <a:off x="4526280" y="251460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Modelovanje po klimatskim zonama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1"/>
          <p:cNvSpPr/>
          <p:nvPr/>
        </p:nvSpPr>
        <p:spPr>
          <a:xfrm>
            <a:off x="4572000" y="3108960"/>
            <a:ext cx="2971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Australija obuhvata tropske, umerene i pustinjske uslove — odvojeni modeli po zoni mogli bi poboljšati preciznost.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2"/>
          <p:cNvSpPr/>
          <p:nvPr/>
        </p:nvSpPr>
        <p:spPr>
          <a:xfrm>
            <a:off x="8046720" y="1645920"/>
            <a:ext cx="3520080" cy="2742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8fc1d9"/>
            </a:solidFill>
            <a:round/>
          </a:ln>
          <a:effectLst>
            <a:outerShdw algn="bl" blurRad="63360" dir="5400000" dist="25560" kx="0" ky="0" rotWithShape="0" sx="100000" sy="100000">
              <a:srgbClr val="1b2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3"/>
          <p:cNvSpPr/>
          <p:nvPr/>
        </p:nvSpPr>
        <p:spPr>
          <a:xfrm>
            <a:off x="9555480" y="1874520"/>
            <a:ext cx="502560" cy="502560"/>
          </a:xfrm>
          <a:prstGeom prst="ellipse">
            <a:avLst/>
          </a:prstGeom>
          <a:solidFill>
            <a:srgbClr val="5fd1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4"/>
          <p:cNvSpPr/>
          <p:nvPr/>
        </p:nvSpPr>
        <p:spPr>
          <a:xfrm>
            <a:off x="9555480" y="1856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7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b="0" lang="en-GB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5"/>
          <p:cNvSpPr/>
          <p:nvPr/>
        </p:nvSpPr>
        <p:spPr>
          <a:xfrm>
            <a:off x="8275320" y="251460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Noviji podaci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6"/>
          <p:cNvSpPr/>
          <p:nvPr/>
        </p:nvSpPr>
        <p:spPr>
          <a:xfrm>
            <a:off x="8321040" y="3108960"/>
            <a:ext cx="2971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2263a"/>
                </a:solidFill>
                <a:effectLst/>
                <a:uFillTx/>
                <a:latin typeface="Calibri"/>
                <a:ea typeface="Calibri"/>
              </a:rPr>
              <a:t>Proširenje skupa podacima nakon 2017. radi hvatanja savremenijih klimatskih trendova.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7"/>
          <p:cNvSpPr/>
          <p:nvPr/>
        </p:nvSpPr>
        <p:spPr>
          <a:xfrm>
            <a:off x="548640" y="4709160"/>
            <a:ext cx="11063880" cy="1234080"/>
          </a:xfrm>
          <a:prstGeom prst="roundRect">
            <a:avLst>
              <a:gd name="adj" fmla="val 7407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8"/>
          <p:cNvSpPr/>
          <p:nvPr/>
        </p:nvSpPr>
        <p:spPr>
          <a:xfrm>
            <a:off x="822960" y="470916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Rad demonstrira da pažljiva priprema podataka — čišćenje, imputacija i inženjering obeležja — može biti presudnija za kvalitet predikcije od izbora samog algoritma.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9"/>
          <p:cNvSpPr/>
          <p:nvPr/>
        </p:nvSpPr>
        <p:spPr>
          <a:xfrm>
            <a:off x="1156716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7185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0"/>
          <p:cNvSpPr/>
          <p:nvPr/>
        </p:nvSpPr>
        <p:spPr>
          <a:xfrm>
            <a:off x="914400" y="5120640"/>
            <a:ext cx="456840" cy="45684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"/>
          <p:cNvSpPr/>
          <p:nvPr/>
        </p:nvSpPr>
        <p:spPr>
          <a:xfrm>
            <a:off x="1645920" y="5669280"/>
            <a:ext cx="273960" cy="27396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"/>
          <p:cNvSpPr/>
          <p:nvPr/>
        </p:nvSpPr>
        <p:spPr>
          <a:xfrm>
            <a:off x="548640" y="5943600"/>
            <a:ext cx="219240" cy="21924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"/>
          <p:cNvSpPr/>
          <p:nvPr/>
        </p:nvSpPr>
        <p:spPr>
          <a:xfrm>
            <a:off x="10332720" y="914400"/>
            <a:ext cx="411120" cy="41112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4"/>
          <p:cNvSpPr/>
          <p:nvPr/>
        </p:nvSpPr>
        <p:spPr>
          <a:xfrm>
            <a:off x="10972800" y="1554480"/>
            <a:ext cx="273960" cy="27396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5"/>
          <p:cNvSpPr/>
          <p:nvPr/>
        </p:nvSpPr>
        <p:spPr>
          <a:xfrm>
            <a:off x="9966960" y="1920240"/>
            <a:ext cx="200880" cy="20088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6"/>
          <p:cNvSpPr/>
          <p:nvPr/>
        </p:nvSpPr>
        <p:spPr>
          <a:xfrm>
            <a:off x="822960" y="265176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Hvala na pažnji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7"/>
          <p:cNvSpPr/>
          <p:nvPr/>
        </p:nvSpPr>
        <p:spPr>
          <a:xfrm>
            <a:off x="822960" y="352044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8fc1d9"/>
                </a:solidFill>
                <a:effectLst/>
                <a:uFillTx/>
                <a:latin typeface="Calibri"/>
                <a:ea typeface="Calibri"/>
              </a:rPr>
              <a:t>Pitanja i diskusija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8"/>
          <p:cNvSpPr/>
          <p:nvPr/>
        </p:nvSpPr>
        <p:spPr>
          <a:xfrm>
            <a:off x="5184360" y="4297680"/>
            <a:ext cx="1828800" cy="360"/>
          </a:xfrm>
          <a:prstGeom prst="line">
            <a:avLst/>
          </a:prstGeom>
          <a:ln w="31750">
            <a:solidFill>
              <a:srgbClr val="5fd1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2026-09-06T09:13:07Z</dcterms:created>
  <dc:creator>PptxGenJS</dc:creator>
  <dc:description/>
  <dc:language>en-GB</dc:language>
  <cp:lastModifiedBy/>
  <dcterms:modified xsi:type="dcterms:W3CDTF">2026-09-06T11:25:01Z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